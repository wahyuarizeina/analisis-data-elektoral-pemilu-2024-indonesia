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137160" cy="3657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D4A017"/>
                </a:solidFill>
                <a:latin typeface="Calibri"/>
              </a:rPr>
              <a:t>PORTFOLIO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Analisis Data Elektoral
Pemilu 2024 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Segmentasi Pemilih · Sentimen Publik · Model Prediktif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120640"/>
            <a:ext cx="3657600" cy="3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Wahyu Surya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D4A017"/>
                </a:solidFill>
                <a:latin typeface="Calibri"/>
              </a:rPr>
              <a:t>Kandidat AI &amp; Data Analyst — Partai Politik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D4A017"/>
                </a:solidFill>
                <a:latin typeface="Calibri"/>
              </a:rPr>
              <a:t>September 2024 · Data: Simulasi berbasis pola KPU RI &amp; BPS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Latar Belakang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0">
                <a:solidFill>
                  <a:srgbClr val="0B1D3A"/>
                </a:solidFill>
                <a:latin typeface="Calibri"/>
              </a:rPr>
              <a:t>· Pemilu 2024: pertama kali Pilpres + Pileg + Pilkada dalam satu tahun.</a:t>
            </a:r>
          </a:p>
          <a:p>
            <a:pPr algn="l"/>
            <a:r>
              <a:rPr sz="1700" b="0">
                <a:solidFill>
                  <a:srgbClr val="0B1D3A"/>
                </a:solidFill>
                <a:latin typeface="Calibri"/>
              </a:rPr>
              <a:t>· 204,8 juta pemilih terdaftar; Gen Z + Milenial &gt; 55% populasi.</a:t>
            </a:r>
          </a:p>
          <a:p>
            <a:pPr algn="l"/>
            <a:r>
              <a:rPr sz="1700" b="0">
                <a:solidFill>
                  <a:srgbClr val="0B1D3A"/>
                </a:solidFill>
                <a:latin typeface="Calibri"/>
              </a:rPr>
              <a:t>· Fragmentasi 18 partai — ambang parlementer 4% menjadi filter yang menentukan koalisi.</a:t>
            </a:r>
          </a:p>
          <a:p>
            <a:pPr algn="l"/>
            <a:r>
              <a:rPr sz="1700" b="0">
                <a:solidFill>
                  <a:srgbClr val="0B1D3A"/>
                </a:solidFill>
                <a:latin typeface="Calibri"/>
              </a:rPr>
              <a:t>· Sentimen publik semakin volatil di kanal digital: harga pangan &amp; korupsi mendominasi percakapan negatif.</a:t>
            </a:r>
          </a:p>
          <a:p>
            <a:pPr algn="l"/>
            <a:r>
              <a:rPr sz="1700" b="0">
                <a:solidFill>
                  <a:srgbClr val="0B1D3A"/>
                </a:solidFill>
                <a:latin typeface="Calibri"/>
              </a:rPr>
              <a:t/>
            </a:r>
          </a:p>
          <a:p>
            <a:pPr algn="l"/>
            <a:r>
              <a:rPr sz="1700" b="0">
                <a:solidFill>
                  <a:srgbClr val="0B1D3A"/>
                </a:solidFill>
                <a:latin typeface="Calibri"/>
              </a:rPr>
              <a:t>Tujuan analisis:</a:t>
            </a:r>
          </a:p>
          <a:p>
            <a:pPr algn="l"/>
            <a:r>
              <a:rPr sz="1700" b="0">
                <a:solidFill>
                  <a:srgbClr val="0B1D3A"/>
                </a:solidFill>
                <a:latin typeface="Calibri"/>
              </a:rPr>
              <a:t>   1. Memetakan basis suara partai &amp; paslon per provinsi.</a:t>
            </a:r>
          </a:p>
          <a:p>
            <a:pPr algn="l"/>
            <a:r>
              <a:rPr sz="1700" b="0">
                <a:solidFill>
                  <a:srgbClr val="0B1D3A"/>
                </a:solidFill>
                <a:latin typeface="Calibri"/>
              </a:rPr>
              <a:t>   2. Menyegmentasi provinsi berdasarkan profil sosiodemografi.</a:t>
            </a:r>
          </a:p>
          <a:p>
            <a:pPr algn="l"/>
            <a:r>
              <a:rPr sz="1700" b="0">
                <a:solidFill>
                  <a:srgbClr val="0B1D3A"/>
                </a:solidFill>
                <a:latin typeface="Calibri"/>
              </a:rPr>
              <a:t>   3. Membangun model prediksi partisipasi &amp; rekomendasi strategis.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2/14 · Analisis Elektoral Pemilu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Metodologi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103120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828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1828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5 dataset · 38 provinsi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011680"/>
            <a:ext cx="2103120" cy="21945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19456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1828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Exploratory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474720"/>
            <a:ext cx="1828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Kualitas · agregasi · visual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011680"/>
            <a:ext cx="2103120" cy="2194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19456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743200"/>
            <a:ext cx="1828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474720"/>
            <a:ext cx="1828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K-Means (K=4) · PCA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011680"/>
            <a:ext cx="2103120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19456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743200"/>
            <a:ext cx="1828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ML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474720"/>
            <a:ext cx="1828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RF + GB · feature importance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2011680"/>
            <a:ext cx="2103120" cy="21945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19456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743200"/>
            <a:ext cx="1828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474720"/>
            <a:ext cx="1828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Strategi partai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548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Tech stack: Python 3.11 · pandas · scikit-learn · matplotlib · seaborn · Jupyter.</a:t>
            </a:r>
          </a:p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Reproducibility: random_state=42, dataset publik yang telah dinormalisasi.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3/14 · Analisis Elektoral Pemilu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Hasil Pilpres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z_pilp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097280"/>
            <a:ext cx="7132320" cy="42246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88720"/>
            <a:ext cx="30000" cy="457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143000"/>
            <a:ext cx="3474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4747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Prabowo-Gibran menang mayoritas nasional.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Anies-Cak Imin kuat di Aceh &amp; Sumbar (basis PKS/PKB).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Ganjar-Mahfud kompetitif hanya di Jateng &amp; Bali.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Selisih Prabowo vs #2 rata-rata &gt; 25%.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4/14 · Analisis Elektoral Pemilu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Peta Perolehan Partai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z_partai_na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097280"/>
            <a:ext cx="7132320" cy="43478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88720"/>
            <a:ext cx="30000" cy="457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143000"/>
            <a:ext cx="3474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4747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9 partai lolos ambang 4%.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PDIP, Golkar, Gerindra tiga besar nasional.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PKB dominan di Jatim &amp; Jateng (basis NU).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NasDem meraih 5 provinsi Sulawesi &amp; NTT.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5/14 · Analisis Elektoral Pemilu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Battleground vs Safe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z_battle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097280"/>
            <a:ext cx="7132320" cy="4754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88720"/>
            <a:ext cx="30000" cy="457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143000"/>
            <a:ext cx="3474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4747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5 provinsi margin &lt; 15% (battleground).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Aceh, Sumbar, Jateng, DIY, Bali kunci.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Alokasi 60% budget → 5 battleground.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Safe seat: fokus mobilisasi turnout saja.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6/14 · Analisis Elektoral Pemilu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Partisipasi &amp; Pemilih Muda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z_partisip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097280"/>
            <a:ext cx="7132320" cy="32416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88720"/>
            <a:ext cx="30000" cy="457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143000"/>
            <a:ext cx="3474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4747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Partisipasi rata-rata: 80.5%.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Korelasi positif urbanisasi ↔ partisipasi.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Papua 6 provinsi &lt; 76% (perlu intervensi).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Gen Z + Milenial &gt; 50% populasi tiap provinsi.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7/14 · Analisis Elektoral Pemilu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Segmentasi 4 Cluster Provinsi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z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097280"/>
            <a:ext cx="7132320" cy="4754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88720"/>
            <a:ext cx="30000" cy="457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143000"/>
            <a:ext cx="3474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4747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Urban Progressive: DKI, DIY, Banten, Bali.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Rural Traditional: Jateng, Jatim, NTB.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Swing Moderate: mayoritas Sumatera &amp; Sulawesi.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Emerging Region: Papua &amp; sekitarnya.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8/14 · Analisis Elektoral Pemilu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Sentimen Publik Jan–Jun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z_sent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097280"/>
            <a:ext cx="7132320" cy="32779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88720"/>
            <a:ext cx="30000" cy="457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143000"/>
            <a:ext cx="3474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4747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Korupsi &amp; harga pangan dominan negatif (&gt; 60%).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Bansos &amp; pendidikan konsisten positif.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Sentimen positif turun perlahan sepanjang H1 2024.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Volume percakapan puncak: Feb (masa kampanye).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9/14 · Analisis Elektoral Pemilu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Model Prediktif — Partisipasi Pemilih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z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097280"/>
            <a:ext cx="5486400" cy="2743200"/>
          </a:xfrm>
          <a:prstGeom prst="rect">
            <a:avLst/>
          </a:prstGeom>
        </p:spPr>
      </p:pic>
      <p:pic>
        <p:nvPicPr>
          <p:cNvPr id="7" name="Picture 6" descr="viz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647" y="3931920"/>
            <a:ext cx="5486400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188720"/>
            <a:ext cx="30000" cy="5029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143000"/>
            <a:ext cx="40233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PERFORMA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600200"/>
            <a:ext cx="40233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Random Forest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   R² : 0.537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   MAE: 2.899%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Gradient Boosting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   R² : 0.585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   MAE: 2.641%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Fitur paling berpengaruh: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1. Penetrasi internet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2. IPM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3. Urbanisasi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10/14 · Analisis Elektoral Pemilu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Estimasi Kursi DPR &amp; Koalisi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z_kursi_d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207" y="1097280"/>
            <a:ext cx="5669280" cy="2560320"/>
          </a:xfrm>
          <a:prstGeom prst="rect">
            <a:avLst/>
          </a:prstGeom>
        </p:spPr>
      </p:pic>
      <p:pic>
        <p:nvPicPr>
          <p:cNvPr id="7" name="Picture 6" descr="viz_koal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207" y="3840480"/>
            <a:ext cx="5669280" cy="2560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63840" y="1188720"/>
            <a:ext cx="30000" cy="5029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43000"/>
            <a:ext cx="3840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00200"/>
            <a:ext cx="384048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Metode Sainte-Lague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580 kursi disederhanakan.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Top 4 partai: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PDIP    ~99 kursi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Golkar  ~91 kursi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Gerindra ~79 kursi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PKB     ~63 kursi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4 skenario koalisi lolos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threshold capres 20%.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11/14 · Analisis Elektoral Pemilu 2024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Tren Partai 2009–2024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z_histo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097280"/>
            <a:ext cx="7132320" cy="42246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188720"/>
            <a:ext cx="30000" cy="4572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143000"/>
            <a:ext cx="3474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4747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Demokrat: 20,85% → 7,43% (–66%).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Gerindra: 4,46% → 13,22% (3x lipat).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PDIP stabil di &gt; 14% empat pemilu.</a:t>
            </a:r>
          </a:p>
          <a:p>
            <a:pPr algn="l"/>
            <a:r>
              <a:rPr sz="1200" b="0">
                <a:solidFill>
                  <a:srgbClr val="0B1D3A"/>
                </a:solidFill>
                <a:latin typeface="Calibri"/>
              </a:rPr>
              <a:t>· NasDem tumbuh dari nol menjadi 9,65% (2024).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12/14 · Analisis Elektoral Pemilu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36576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0B1D3A"/>
                </a:solidFill>
                <a:latin typeface="Cambria"/>
              </a:rPr>
              <a:t>Rekomendasi Strategis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" cy="3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82296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8229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716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D3A"/>
                </a:solidFill>
                <a:latin typeface="Calibri"/>
              </a:rPr>
              <a:t>Prioritaskan Pemilih Muda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288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Kanal video pendek + micro-influencer di Urban Progressive.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822960" cy="822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8229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231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D3A"/>
                </a:solidFill>
                <a:latin typeface="Calibri"/>
              </a:rPr>
              <a:t>Segmentasi Kampanye per 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803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Isu, tokoh &amp; alokasi budget mengikuti profil cluster.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822960" cy="822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8229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747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1D3A"/>
                </a:solidFill>
                <a:latin typeface="Calibri"/>
              </a:rPr>
              <a:t>Serangan Antikorupsi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5D6D7E"/>
                </a:solidFill>
                <a:latin typeface="Calibri"/>
              </a:rPr>
              <a:t>Track-record &amp; program stabilisasi harga pangan.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17720"/>
            <a:ext cx="10972800" cy="2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10058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Calibri"/>
              </a:rPr>
              <a:t>TECHNICAL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• Bangun pipeline sentimen realtime (Twitter/X + TikTok API) untuk deteksi isu.</a:t>
            </a:r>
          </a:p>
          <a:p>
            <a:pPr algn="l"/>
            <a:r>
              <a:rPr sz="1300" b="0">
                <a:solidFill>
                  <a:srgbClr val="0B1D3A"/>
                </a:solidFill>
                <a:latin typeface="Calibri"/>
              </a:rPr>
              <a:t>• Bangun dashboard command-center yang menggabungkan hasil clustering + tren historis untuk pengambilan keputusan H-100.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Slide 13/14 · Analisis Elektoral Pemilu 2024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137160" cy="3200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D4A017"/>
                </a:solidFill>
                <a:latin typeface="Calibri"/>
              </a:rPr>
              <a:t>Diskusi &amp; masukan sangat diapresiasi.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0332720" cy="2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Wahyu Surya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D4A017"/>
                </a:solidFill>
                <a:latin typeface="Calibri"/>
              </a:rPr>
              <a:t>AI &amp; Data Analyst · wahyuarizeina@gmail.com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Calibri"/>
              </a:rP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Python · pandas · scikit-learn · matplotlib · seaborn · Jupyter · HTML/CSS/JS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D4A017"/>
                </a:solidFill>
                <a:latin typeface="Calibri"/>
              </a:rPr>
              <a:t>Slide 14/14 · Data: Simulasi berbasis pola KPU RI &amp; BPS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